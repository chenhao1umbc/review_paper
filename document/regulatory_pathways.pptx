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4343400" cy="502920"/>
          </a:xfrm>
          <a:prstGeom prst="roundRect">
            <a:avLst/>
          </a:prstGeom>
          <a:solidFill>
            <a:srgbClr val="2B6A97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United States:  FDA Pathway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320040"/>
            <a:ext cx="4343400" cy="502920"/>
          </a:xfrm>
          <a:prstGeom prst="roundRect">
            <a:avLst/>
          </a:prstGeom>
          <a:solidFill>
            <a:srgbClr val="3A7D59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European Union:  MDR + AI 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914400"/>
            <a:ext cx="0" cy="5806440"/>
          </a:xfrm>
          <a:prstGeom prst="bentConnector3">
            <a:avLst/>
          </a:prstGeom>
          <a:ln w="15875">
            <a:solidFill>
              <a:srgbClr val="B8B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960120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5374E"/>
                </a:solidFill>
                <a:latin typeface="Calibri"/>
              </a:rPr>
              <a:t>Clinical humanoid robot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556B"/>
                </a:solidFill>
                <a:latin typeface="Calibri"/>
              </a:rPr>
              <a:t>novel device, no predicate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47672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5374E"/>
                </a:solidFill>
                <a:latin typeface="Calibri"/>
              </a:rPr>
              <a:t>510(k) not viable, use De Novo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556B"/>
                </a:solidFill>
                <a:latin typeface="Calibri"/>
              </a:rPr>
              <a:t>21 CFR 513(f)(2)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35224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5374E"/>
                </a:solidFill>
                <a:latin typeface="Calibri"/>
              </a:rPr>
              <a:t>Pre-Submission meeting with FDA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556B"/>
                </a:solidFill>
                <a:latin typeface="Calibri"/>
              </a:rPr>
              <a:t>risk class and evidence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922776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5374E"/>
                </a:solidFill>
                <a:latin typeface="Calibri"/>
              </a:rPr>
              <a:t>De Novo request submission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556B"/>
                </a:solidFill>
                <a:latin typeface="Calibri"/>
              </a:rPr>
              <a:t>bench, non-clinical, clinical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910328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5374E"/>
                </a:solidFill>
                <a:latin typeface="Calibri"/>
              </a:rPr>
              <a:t>FDA review, about 12 months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3556B"/>
                </a:solidFill>
                <a:latin typeface="Calibri"/>
              </a:rPr>
              <a:t>classification order issued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897880"/>
            <a:ext cx="4343400" cy="777240"/>
          </a:xfrm>
          <a:prstGeom prst="roundRect">
            <a:avLst/>
          </a:prstGeom>
          <a:solidFill>
            <a:srgbClr val="15374E"/>
          </a:solidFill>
          <a:ln w="19050">
            <a:solidFill>
              <a:srgbClr val="153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OUTCOME:  Class II authorization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CFE3F2"/>
                </a:solidFill>
                <a:latin typeface="Calibri"/>
              </a:rPr>
              <a:t>plus post-market surveillance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B3D28"/>
                </a:solidFill>
                <a:latin typeface="Calibri"/>
              </a:rPr>
              <a:t>Clinical humanoid robot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55C42"/>
                </a:solidFill>
                <a:latin typeface="Calibri"/>
              </a:rPr>
              <a:t>novel device, no CE predicate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947672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B3D28"/>
                </a:solidFill>
                <a:latin typeface="Calibri"/>
              </a:rPr>
              <a:t>EU MDR Class IIb/III assessment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55C42"/>
                </a:solidFill>
                <a:latin typeface="Calibri"/>
              </a:rPr>
              <a:t>Notified Body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935224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B3D28"/>
                </a:solidFill>
                <a:latin typeface="Calibri"/>
              </a:rPr>
              <a:t>EU AI Act: high-risk AI system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55C42"/>
                </a:solidFill>
                <a:latin typeface="Calibri"/>
              </a:rPr>
              <a:t>Art. 6, conformity Aug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922776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B3D28"/>
                </a:solidFill>
                <a:latin typeface="Calibri"/>
              </a:rPr>
              <a:t>Clinical investigation (MDR Art. 62)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55C42"/>
                </a:solidFill>
                <a:latin typeface="Calibri"/>
              </a:rPr>
              <a:t>Competent Authority and ethics committee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910328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1B3D28"/>
                </a:solidFill>
                <a:latin typeface="Calibri"/>
              </a:rPr>
              <a:t>CE marking by Notified Body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355C42"/>
                </a:solidFill>
                <a:latin typeface="Calibri"/>
              </a:rPr>
              <a:t>plus AI Act declaration of conformity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5897880"/>
            <a:ext cx="4343400" cy="777240"/>
          </a:xfrm>
          <a:prstGeom prst="roundRect">
            <a:avLst/>
          </a:prstGeom>
          <a:solidFill>
            <a:srgbClr val="1F5130"/>
          </a:solidFill>
          <a:ln w="19050">
            <a:solidFill>
              <a:srgbClr val="1F5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OUTCOME:  EU market authorization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CFE6D6"/>
                </a:solidFill>
                <a:latin typeface="Calibri"/>
              </a:rPr>
              <a:t>plus post-market clinical follow-up (PMCF)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10028" y="1737360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7402068" y="1737360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2510028" y="2724912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7402068" y="2724912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2510028" y="3712463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7402068" y="3712463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2510028" y="4700016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7402068" y="4700016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2510028" y="5687568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402068" y="5687568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6903720"/>
            <a:ext cx="9235440" cy="749808"/>
          </a:xfrm>
          <a:prstGeom prst="roundRect">
            <a:avLst/>
          </a:prstGeom>
          <a:solidFill>
            <a:srgbClr val="FBE4D0"/>
          </a:solidFill>
          <a:ln w="19050">
            <a:solidFill>
              <a:srgbClr val="D0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7C3D10"/>
                </a:solidFill>
                <a:latin typeface="Calibri"/>
              </a:rPr>
              <a:t>Critical gap (both tracks)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7C3D10"/>
                </a:solidFill>
                <a:latin typeface="Calibri"/>
              </a:rPr>
              <a:t>No accepted safety standard for bipedal gait in patient-proximate environments.  ISO 13482 excludes medical devices; ISO/TS 15066 covers only fixed-base collaborative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