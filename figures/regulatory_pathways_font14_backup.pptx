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>
        <p:scale>
          <a:sx n="100" d="100"/>
          <a:sy n="100" d="100"/>
        </p:scale>
        <p:origin x="2216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20040"/>
            <a:ext cx="4343400" cy="502920"/>
          </a:xfrm>
          <a:prstGeom prst="roundRect">
            <a:avLst/>
          </a:prstGeom>
          <a:solidFill>
            <a:srgbClr val="2B6A97"/>
          </a:solidFill>
          <a:ln w="19050">
            <a:solidFill>
              <a:srgbClr val="2B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United States:  FDA Pathway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3520" y="320040"/>
            <a:ext cx="4343400" cy="502920"/>
          </a:xfrm>
          <a:prstGeom prst="roundRect">
            <a:avLst/>
          </a:prstGeom>
          <a:solidFill>
            <a:srgbClr val="3A7D59"/>
          </a:solidFill>
          <a:ln w="19050">
            <a:solidFill>
              <a:srgbClr val="3A7D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European Union:  MDR + AI Act</a:t>
            </a:r>
          </a:p>
        </p:txBody>
      </p:sp>
      <p:cxnSp>
        <p:nvCxnSpPr>
          <p:cNvPr id="4" name="Connector 3"/>
          <p:cNvCxnSpPr>
            <a:cxnSpLocks/>
            <a:endCxn id="27" idx="0"/>
          </p:cNvCxnSpPr>
          <p:nvPr/>
        </p:nvCxnSpPr>
        <p:spPr>
          <a:xfrm rot="5400000">
            <a:off x="1787502" y="3655672"/>
            <a:ext cx="6489746" cy="6350"/>
          </a:xfrm>
          <a:prstGeom prst="bentConnector3">
            <a:avLst/>
          </a:prstGeom>
          <a:ln w="15875">
            <a:solidFill>
              <a:srgbClr val="B8B8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11480" y="960120"/>
            <a:ext cx="4343400" cy="777240"/>
          </a:xfrm>
          <a:prstGeom prst="roundRect">
            <a:avLst/>
          </a:prstGeom>
          <a:solidFill>
            <a:srgbClr val="D6E7F5"/>
          </a:solidFill>
          <a:ln w="19050">
            <a:solidFill>
              <a:srgbClr val="2B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humanoid robot</a:t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 device, no predicate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47672"/>
            <a:ext cx="4343400" cy="777240"/>
          </a:xfrm>
          <a:prstGeom prst="roundRect">
            <a:avLst/>
          </a:prstGeom>
          <a:solidFill>
            <a:srgbClr val="D6E7F5"/>
          </a:solidFill>
          <a:ln w="19050">
            <a:solidFill>
              <a:srgbClr val="2B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510(k) not viable, use De Novo</a:t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 CFR 513(f)(2)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935224"/>
            <a:ext cx="4343400" cy="777240"/>
          </a:xfrm>
          <a:prstGeom prst="roundRect">
            <a:avLst/>
          </a:prstGeom>
          <a:solidFill>
            <a:srgbClr val="D6E7F5"/>
          </a:solidFill>
          <a:ln w="19050">
            <a:solidFill>
              <a:srgbClr val="2B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Pre-Submission meeting with FDA</a:t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class and evidence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922776"/>
            <a:ext cx="4343400" cy="777240"/>
          </a:xfrm>
          <a:prstGeom prst="roundRect">
            <a:avLst/>
          </a:prstGeom>
          <a:solidFill>
            <a:srgbClr val="D6E7F5"/>
          </a:solidFill>
          <a:ln w="19050">
            <a:solidFill>
              <a:srgbClr val="2B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Novo request submission</a:t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bench, non-clinical, clinical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910328"/>
            <a:ext cx="4343400" cy="777240"/>
          </a:xfrm>
          <a:prstGeom prst="roundRect">
            <a:avLst/>
          </a:prstGeom>
          <a:solidFill>
            <a:srgbClr val="D6E7F5"/>
          </a:solidFill>
          <a:ln w="19050">
            <a:solidFill>
              <a:srgbClr val="2B6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FDA review, about 12 months</a:t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order issued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5897880"/>
            <a:ext cx="4343400" cy="777240"/>
          </a:xfrm>
          <a:prstGeom prst="roundRect">
            <a:avLst/>
          </a:prstGeom>
          <a:solidFill>
            <a:srgbClr val="15374E"/>
          </a:solidFill>
          <a:ln w="19050">
            <a:solidFill>
              <a:srgbClr val="1537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  Class II authorization</a:t>
            </a:r>
          </a:p>
          <a:p>
            <a:pPr algn="ctr">
              <a:spcBef>
                <a:spcPts val="200"/>
              </a:spcBef>
            </a:pPr>
            <a:r>
              <a:rPr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post-market surveillance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960120"/>
            <a:ext cx="4343400" cy="777240"/>
          </a:xfrm>
          <a:prstGeom prst="roundRect">
            <a:avLst/>
          </a:prstGeom>
          <a:solidFill>
            <a:srgbClr val="D8ECE0"/>
          </a:solidFill>
          <a:ln w="19050">
            <a:solidFill>
              <a:srgbClr val="3A7D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humanoid robot</a:t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 device, no CE predicate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947672"/>
            <a:ext cx="4343400" cy="777240"/>
          </a:xfrm>
          <a:prstGeom prst="roundRect">
            <a:avLst/>
          </a:prstGeom>
          <a:solidFill>
            <a:srgbClr val="D8ECE0"/>
          </a:solidFill>
          <a:ln w="19050">
            <a:solidFill>
              <a:srgbClr val="3A7D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 MDR Class IIb/III assessment</a:t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Notified Body 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935224"/>
            <a:ext cx="4343400" cy="777240"/>
          </a:xfrm>
          <a:prstGeom prst="roundRect">
            <a:avLst/>
          </a:prstGeom>
          <a:solidFill>
            <a:srgbClr val="D8ECE0"/>
          </a:solidFill>
          <a:ln w="19050">
            <a:solidFill>
              <a:srgbClr val="3A7D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 AI Act: high-risk AI system</a:t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Art. 6, conformity Aug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922776"/>
            <a:ext cx="4343400" cy="777240"/>
          </a:xfrm>
          <a:prstGeom prst="roundRect">
            <a:avLst/>
          </a:prstGeom>
          <a:solidFill>
            <a:srgbClr val="D8ECE0"/>
          </a:solidFill>
          <a:ln w="19050">
            <a:solidFill>
              <a:srgbClr val="3A7D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investigation (MDR Art. 62)</a:t>
            </a:r>
          </a:p>
          <a:p>
            <a:pPr algn="ctr">
              <a:spcBef>
                <a:spcPts val="200"/>
              </a:spcBef>
            </a:pPr>
            <a:r>
              <a: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Competent Authority and ethics committee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4910328"/>
            <a:ext cx="4343400" cy="777240"/>
          </a:xfrm>
          <a:prstGeom prst="roundRect">
            <a:avLst/>
          </a:prstGeom>
          <a:solidFill>
            <a:srgbClr val="D8ECE0"/>
          </a:solidFill>
          <a:ln w="19050">
            <a:solidFill>
              <a:srgbClr val="3A7D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 marking by Notified Body</a:t>
            </a:r>
          </a:p>
          <a:p>
            <a:pPr algn="ctr">
              <a:spcBef>
                <a:spcPts val="200"/>
              </a:spcBef>
            </a:pP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Act declaration of conformity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5897880"/>
            <a:ext cx="4343400" cy="777240"/>
          </a:xfrm>
          <a:prstGeom prst="roundRect">
            <a:avLst/>
          </a:prstGeom>
          <a:solidFill>
            <a:srgbClr val="1F5130"/>
          </a:solidFill>
          <a:ln w="19050">
            <a:solidFill>
              <a:srgbClr val="1F5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OUTCOME:  EU market authorization</a:t>
            </a:r>
          </a:p>
          <a:p>
            <a:pPr algn="ctr">
              <a:spcBef>
                <a:spcPts val="200"/>
              </a:spcBef>
            </a:pPr>
            <a:r>
              <a:rPr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post-market clinical follow-up (PMCF)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510028" y="1737360"/>
            <a:ext cx="146304" cy="210311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Down Arrow 17"/>
          <p:cNvSpPr/>
          <p:nvPr/>
        </p:nvSpPr>
        <p:spPr>
          <a:xfrm>
            <a:off x="7402068" y="1737360"/>
            <a:ext cx="146304" cy="210311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Down Arrow 18"/>
          <p:cNvSpPr/>
          <p:nvPr/>
        </p:nvSpPr>
        <p:spPr>
          <a:xfrm>
            <a:off x="2510028" y="2724912"/>
            <a:ext cx="146304" cy="210311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Down Arrow 19"/>
          <p:cNvSpPr/>
          <p:nvPr/>
        </p:nvSpPr>
        <p:spPr>
          <a:xfrm>
            <a:off x="7402068" y="2724912"/>
            <a:ext cx="146304" cy="210311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Down Arrow 20"/>
          <p:cNvSpPr/>
          <p:nvPr/>
        </p:nvSpPr>
        <p:spPr>
          <a:xfrm>
            <a:off x="2510028" y="3712463"/>
            <a:ext cx="146304" cy="210312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7402068" y="3712463"/>
            <a:ext cx="146304" cy="210312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Down Arrow 22"/>
          <p:cNvSpPr/>
          <p:nvPr/>
        </p:nvSpPr>
        <p:spPr>
          <a:xfrm>
            <a:off x="2510028" y="4700016"/>
            <a:ext cx="146304" cy="210312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Down Arrow 23"/>
          <p:cNvSpPr/>
          <p:nvPr/>
        </p:nvSpPr>
        <p:spPr>
          <a:xfrm>
            <a:off x="7402068" y="4700016"/>
            <a:ext cx="146304" cy="210312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Down Arrow 24"/>
          <p:cNvSpPr/>
          <p:nvPr/>
        </p:nvSpPr>
        <p:spPr>
          <a:xfrm>
            <a:off x="2510028" y="5687568"/>
            <a:ext cx="146304" cy="210312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Down Arrow 25"/>
          <p:cNvSpPr/>
          <p:nvPr/>
        </p:nvSpPr>
        <p:spPr>
          <a:xfrm>
            <a:off x="7402068" y="5687568"/>
            <a:ext cx="146304" cy="210312"/>
          </a:xfrm>
          <a:prstGeom prst="downArrow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11480" y="6903720"/>
            <a:ext cx="9235440" cy="749808"/>
          </a:xfrm>
          <a:prstGeom prst="roundRect">
            <a:avLst/>
          </a:prstGeom>
          <a:solidFill>
            <a:srgbClr val="FBE4D0"/>
          </a:solidFill>
          <a:ln w="19050">
            <a:solidFill>
              <a:srgbClr val="D08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r>
              <a:rPr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gap (both tracks)</a:t>
            </a:r>
          </a:p>
          <a:p>
            <a:pPr algn="ctr">
              <a:spcBef>
                <a:spcPts val="200"/>
              </a:spcBef>
            </a:pP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accepted safety standard for bipedal gait in patient-proximate environments.  ISO 13482 excludes medical devices; ISO/TS 15066 covers only fixed-base collaborative arms.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5771</TotalTime>
  <Words>173</Words>
  <Application>Microsoft Macintosh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Wu, Yusen</cp:lastModifiedBy>
  <cp:revision>2</cp:revision>
  <dcterms:created xsi:type="dcterms:W3CDTF">2013-01-27T09:14:16Z</dcterms:created>
  <dcterms:modified xsi:type="dcterms:W3CDTF">2026-07-10T02:03:21Z</dcterms:modified>
  <cp:category/>
</cp:coreProperties>
</file>